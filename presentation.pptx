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60" r:id="rId5"/>
    <p:sldId id="261" r:id="rId6"/>
    <p:sldId id="262" r:id="rId7"/>
    <p:sldId id="265" r:id="rId8"/>
  </p:sldIdLst>
  <p:sldSz cx="14630400" cy="8229600"/>
  <p:notesSz cx="8229600" cy="14630400"/>
  <p:embeddedFontLst>
    <p:embeddedFont>
      <p:font typeface="Mukta Light" panose="020B0604020202020204" charset="0"/>
      <p:regular r:id="rId10"/>
    </p:embeddedFont>
    <p:embeddedFont>
      <p:font typeface="Prompt Medium" panose="00000600000000000000" pitchFamily="2" charset="-34"/>
      <p:regular r:id="rId11"/>
      <p: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B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84"/>
    <p:restoredTop sz="94610"/>
  </p:normalViewPr>
  <p:slideViewPr>
    <p:cSldViewPr snapToGrid="0" snapToObjects="1">
      <p:cViewPr varScale="1">
        <p:scale>
          <a:sx n="69" d="100"/>
          <a:sy n="69" d="100"/>
        </p:scale>
        <p:origin x="4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077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607236" y="2496111"/>
            <a:ext cx="7415927" cy="1371600"/>
          </a:xfrm>
          <a:prstGeom prst="rect">
            <a:avLst/>
          </a:prstGeom>
          <a:noFill/>
          <a:ln/>
        </p:spPr>
        <p:txBody>
          <a:bodyPr wrap="square" lIns="0" tIns="0" rIns="0" bIns="0" rtlCol="0" anchor="t"/>
          <a:lstStyle/>
          <a:p>
            <a:pPr marL="0" indent="0" algn="ctr">
              <a:lnSpc>
                <a:spcPts val="5400"/>
              </a:lnSpc>
              <a:buNone/>
            </a:pPr>
            <a:r>
              <a:rPr lang="en-US" sz="4300" dirty="0">
                <a:solidFill>
                  <a:srgbClr val="C6BFEE"/>
                </a:solidFill>
                <a:latin typeface="Prompt Medium" pitchFamily="34" charset="0"/>
                <a:ea typeface="Prompt Medium" pitchFamily="34" charset="-122"/>
                <a:cs typeface="Prompt Medium" pitchFamily="34" charset="-120"/>
              </a:rPr>
              <a:t>Adaptive Replacement Cache Algorithm</a:t>
            </a:r>
            <a:endParaRPr lang="en-US" sz="4300" dirty="0"/>
          </a:p>
        </p:txBody>
      </p:sp>
      <p:sp>
        <p:nvSpPr>
          <p:cNvPr id="4" name="Text 1"/>
          <p:cNvSpPr/>
          <p:nvPr/>
        </p:nvSpPr>
        <p:spPr>
          <a:xfrm>
            <a:off x="3607236" y="4486190"/>
            <a:ext cx="7415927" cy="790099"/>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A novel cache replacement algorithm that outperforms traditional approaches through two-tier architecture and adaptive learning.</a:t>
            </a:r>
            <a:endParaRPr lang="en-US" sz="1900" dirty="0"/>
          </a:p>
        </p:txBody>
      </p:sp>
      <p:sp>
        <p:nvSpPr>
          <p:cNvPr id="5" name="Rectangle 4">
            <a:extLst>
              <a:ext uri="{FF2B5EF4-FFF2-40B4-BE49-F238E27FC236}">
                <a16:creationId xmlns:a16="http://schemas.microsoft.com/office/drawing/2014/main" id="{ED10F477-54C0-FBB9-31F9-B7714F8C14BE}"/>
              </a:ext>
            </a:extLst>
          </p:cNvPr>
          <p:cNvSpPr/>
          <p:nvPr/>
        </p:nvSpPr>
        <p:spPr>
          <a:xfrm>
            <a:off x="12549508" y="7190899"/>
            <a:ext cx="1964982"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2212062"/>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The Problem</a:t>
            </a:r>
            <a:endParaRPr lang="en-US" sz="4300" dirty="0"/>
          </a:p>
        </p:txBody>
      </p:sp>
      <p:sp>
        <p:nvSpPr>
          <p:cNvPr id="3" name="Shape 1"/>
          <p:cNvSpPr/>
          <p:nvPr/>
        </p:nvSpPr>
        <p:spPr>
          <a:xfrm>
            <a:off x="864037" y="3391614"/>
            <a:ext cx="4136231" cy="2625804"/>
          </a:xfrm>
          <a:prstGeom prst="roundRect">
            <a:avLst>
              <a:gd name="adj" fmla="val 5572"/>
            </a:avLst>
          </a:prstGeom>
          <a:solidFill>
            <a:srgbClr val="0B0C23">
              <a:alpha val="95000"/>
            </a:srgbClr>
          </a:solidFill>
          <a:ln w="30480">
            <a:solidFill>
              <a:srgbClr val="6D4562"/>
            </a:solidFill>
            <a:prstDash val="solid"/>
          </a:ln>
        </p:spPr>
      </p:sp>
      <p:sp>
        <p:nvSpPr>
          <p:cNvPr id="4" name="Shape 2"/>
          <p:cNvSpPr/>
          <p:nvPr/>
        </p:nvSpPr>
        <p:spPr>
          <a:xfrm>
            <a:off x="833557" y="3391614"/>
            <a:ext cx="121920" cy="2625804"/>
          </a:xfrm>
          <a:prstGeom prst="roundRect">
            <a:avLst>
              <a:gd name="adj" fmla="val 85050"/>
            </a:avLst>
          </a:prstGeom>
          <a:solidFill>
            <a:srgbClr val="A95B95"/>
          </a:solidFill>
          <a:ln/>
        </p:spPr>
      </p:sp>
      <p:sp>
        <p:nvSpPr>
          <p:cNvPr id="5" name="Text 3"/>
          <p:cNvSpPr/>
          <p:nvPr/>
        </p:nvSpPr>
        <p:spPr>
          <a:xfrm>
            <a:off x="1232773" y="3668911"/>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FIFO Limitation</a:t>
            </a:r>
            <a:endParaRPr lang="en-US" sz="2150" dirty="0"/>
          </a:p>
        </p:txBody>
      </p:sp>
      <p:sp>
        <p:nvSpPr>
          <p:cNvPr id="6" name="Text 4"/>
          <p:cNvSpPr/>
          <p:nvPr/>
        </p:nvSpPr>
        <p:spPr>
          <a:xfrm>
            <a:off x="1232773" y="4159925"/>
            <a:ext cx="3490198" cy="158019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cs typeface="Mukta Light" pitchFamily="34" charset="-120"/>
              </a:rPr>
              <a:t>Ignores access patterns entirely, treating all items equally regardless of their importance or frequency of use.</a:t>
            </a:r>
            <a:endParaRPr lang="en-US" sz="1900" dirty="0"/>
          </a:p>
        </p:txBody>
      </p:sp>
      <p:sp>
        <p:nvSpPr>
          <p:cNvPr id="7" name="Shape 5"/>
          <p:cNvSpPr/>
          <p:nvPr/>
        </p:nvSpPr>
        <p:spPr>
          <a:xfrm>
            <a:off x="5247084" y="3391614"/>
            <a:ext cx="4136231" cy="2625804"/>
          </a:xfrm>
          <a:prstGeom prst="roundRect">
            <a:avLst>
              <a:gd name="adj" fmla="val 5572"/>
            </a:avLst>
          </a:prstGeom>
          <a:solidFill>
            <a:srgbClr val="0B0C23">
              <a:alpha val="95000"/>
            </a:srgbClr>
          </a:solidFill>
          <a:ln w="30480">
            <a:solidFill>
              <a:srgbClr val="6D4562"/>
            </a:solidFill>
            <a:prstDash val="solid"/>
          </a:ln>
        </p:spPr>
      </p:sp>
      <p:sp>
        <p:nvSpPr>
          <p:cNvPr id="8" name="Shape 6"/>
          <p:cNvSpPr/>
          <p:nvPr/>
        </p:nvSpPr>
        <p:spPr>
          <a:xfrm>
            <a:off x="5216604" y="3391614"/>
            <a:ext cx="121920" cy="2625804"/>
          </a:xfrm>
          <a:prstGeom prst="roundRect">
            <a:avLst>
              <a:gd name="adj" fmla="val 85050"/>
            </a:avLst>
          </a:prstGeom>
          <a:solidFill>
            <a:srgbClr val="A95B95"/>
          </a:solidFill>
          <a:ln/>
        </p:spPr>
      </p:sp>
      <p:sp>
        <p:nvSpPr>
          <p:cNvPr id="9" name="Text 7"/>
          <p:cNvSpPr/>
          <p:nvPr/>
        </p:nvSpPr>
        <p:spPr>
          <a:xfrm>
            <a:off x="5615821" y="3668911"/>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LRU Limitation</a:t>
            </a:r>
            <a:endParaRPr lang="en-US" sz="2150" dirty="0"/>
          </a:p>
        </p:txBody>
      </p:sp>
      <p:sp>
        <p:nvSpPr>
          <p:cNvPr id="10" name="Text 8"/>
          <p:cNvSpPr/>
          <p:nvPr/>
        </p:nvSpPr>
        <p:spPr>
          <a:xfrm>
            <a:off x="5615821" y="4159925"/>
            <a:ext cx="3490198" cy="158019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cs typeface="Mukta Light" pitchFamily="34" charset="-120"/>
              </a:rPr>
              <a:t>Optimizes for recency but fails with frequency-based workloads, evicting frequently-accessed items incorrectly.</a:t>
            </a:r>
            <a:endParaRPr lang="en-US" sz="1900" dirty="0"/>
          </a:p>
        </p:txBody>
      </p:sp>
      <p:sp>
        <p:nvSpPr>
          <p:cNvPr id="11" name="Shape 9"/>
          <p:cNvSpPr/>
          <p:nvPr/>
        </p:nvSpPr>
        <p:spPr>
          <a:xfrm>
            <a:off x="9630132" y="3391614"/>
            <a:ext cx="4136231" cy="2625804"/>
          </a:xfrm>
          <a:prstGeom prst="roundRect">
            <a:avLst>
              <a:gd name="adj" fmla="val 5572"/>
            </a:avLst>
          </a:prstGeom>
          <a:solidFill>
            <a:srgbClr val="0B0C23">
              <a:alpha val="95000"/>
            </a:srgbClr>
          </a:solidFill>
          <a:ln w="30480">
            <a:solidFill>
              <a:srgbClr val="6D4562"/>
            </a:solidFill>
            <a:prstDash val="solid"/>
          </a:ln>
        </p:spPr>
      </p:sp>
      <p:sp>
        <p:nvSpPr>
          <p:cNvPr id="12" name="Shape 10"/>
          <p:cNvSpPr/>
          <p:nvPr/>
        </p:nvSpPr>
        <p:spPr>
          <a:xfrm>
            <a:off x="9599652" y="3391614"/>
            <a:ext cx="121920" cy="2625804"/>
          </a:xfrm>
          <a:prstGeom prst="roundRect">
            <a:avLst>
              <a:gd name="adj" fmla="val 85050"/>
            </a:avLst>
          </a:prstGeom>
          <a:solidFill>
            <a:srgbClr val="A95B95"/>
          </a:solidFill>
          <a:ln/>
        </p:spPr>
      </p:sp>
      <p:sp>
        <p:nvSpPr>
          <p:cNvPr id="13" name="Text 11"/>
          <p:cNvSpPr/>
          <p:nvPr/>
        </p:nvSpPr>
        <p:spPr>
          <a:xfrm>
            <a:off x="9998869" y="3668911"/>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LFU Limitation</a:t>
            </a:r>
            <a:endParaRPr lang="en-US" sz="2150" dirty="0"/>
          </a:p>
        </p:txBody>
      </p:sp>
      <p:sp>
        <p:nvSpPr>
          <p:cNvPr id="14" name="Text 12"/>
          <p:cNvSpPr/>
          <p:nvPr/>
        </p:nvSpPr>
        <p:spPr>
          <a:xfrm>
            <a:off x="9998869" y="4159925"/>
            <a:ext cx="3490198" cy="118514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cs typeface="Mukta Light" pitchFamily="34" charset="-120"/>
              </a:rPr>
              <a:t>Prioritizes frequency but suffers cache pollution: new items with low frequency get unfairly evicted.</a:t>
            </a:r>
            <a:endParaRPr lang="en-US" sz="1900" dirty="0"/>
          </a:p>
        </p:txBody>
      </p:sp>
      <p:sp>
        <p:nvSpPr>
          <p:cNvPr id="15" name="Rectangle 14">
            <a:extLst>
              <a:ext uri="{FF2B5EF4-FFF2-40B4-BE49-F238E27FC236}">
                <a16:creationId xmlns:a16="http://schemas.microsoft.com/office/drawing/2014/main" id="{0B164400-DA6E-46BC-5576-EC352ECA8A88}"/>
              </a:ext>
            </a:extLst>
          </p:cNvPr>
          <p:cNvSpPr/>
          <p:nvPr/>
        </p:nvSpPr>
        <p:spPr>
          <a:xfrm>
            <a:off x="12549508" y="7190899"/>
            <a:ext cx="1964982"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27353" y="610314"/>
            <a:ext cx="6271022" cy="577215"/>
          </a:xfrm>
          <a:prstGeom prst="rect">
            <a:avLst/>
          </a:prstGeom>
          <a:noFill/>
          <a:ln/>
        </p:spPr>
        <p:txBody>
          <a:bodyPr wrap="none" lIns="0" tIns="0" rIns="0" bIns="0" rtlCol="0" anchor="t"/>
          <a:lstStyle/>
          <a:p>
            <a:pPr marL="0" indent="0" algn="l">
              <a:lnSpc>
                <a:spcPts val="4500"/>
              </a:lnSpc>
              <a:buNone/>
            </a:pPr>
            <a:r>
              <a:rPr lang="en-US" sz="3600" dirty="0">
                <a:solidFill>
                  <a:srgbClr val="C6BFEE"/>
                </a:solidFill>
                <a:latin typeface="Prompt Medium" pitchFamily="34" charset="0"/>
                <a:ea typeface="Prompt Medium" pitchFamily="34" charset="-122"/>
                <a:cs typeface="Prompt Medium" pitchFamily="34" charset="-120"/>
              </a:rPr>
              <a:t>Adaptive-ARC: The Solution</a:t>
            </a:r>
            <a:endParaRPr lang="en-US" sz="3600" dirty="0"/>
          </a:p>
        </p:txBody>
      </p:sp>
      <p:sp>
        <p:nvSpPr>
          <p:cNvPr id="4" name="Text 1"/>
          <p:cNvSpPr/>
          <p:nvPr/>
        </p:nvSpPr>
        <p:spPr>
          <a:xfrm>
            <a:off x="727353" y="1499235"/>
            <a:ext cx="7689294" cy="665083"/>
          </a:xfrm>
          <a:prstGeom prst="rect">
            <a:avLst/>
          </a:prstGeom>
          <a:noFill/>
          <a:ln/>
        </p:spPr>
        <p:txBody>
          <a:bodyPr wrap="square" lIns="0" tIns="0" rIns="0" bIns="0" rtlCol="0" anchor="t"/>
          <a:lstStyle/>
          <a:p>
            <a:pPr marL="0" indent="0" algn="l">
              <a:lnSpc>
                <a:spcPts val="2600"/>
              </a:lnSpc>
              <a:buNone/>
            </a:pPr>
            <a:r>
              <a:rPr lang="en-US" sz="1600" dirty="0">
                <a:solidFill>
                  <a:srgbClr val="DAD8E9"/>
                </a:solidFill>
                <a:latin typeface="Mukta Light" pitchFamily="34" charset="0"/>
                <a:ea typeface="Mukta Light" pitchFamily="34" charset="-122"/>
                <a:cs typeface="Mukta Light" pitchFamily="34" charset="-120"/>
              </a:rPr>
              <a:t>A hybrid approach combining the strengths of LRU and LFU with adaptive learning mechanisms.</a:t>
            </a:r>
            <a:endParaRPr lang="en-US" sz="1600" dirty="0"/>
          </a:p>
        </p:txBody>
      </p:sp>
      <p:sp>
        <p:nvSpPr>
          <p:cNvPr id="5" name="Shape 2"/>
          <p:cNvSpPr/>
          <p:nvPr/>
        </p:nvSpPr>
        <p:spPr>
          <a:xfrm>
            <a:off x="727353" y="2398038"/>
            <a:ext cx="3740706" cy="2672953"/>
          </a:xfrm>
          <a:prstGeom prst="roundRect">
            <a:avLst>
              <a:gd name="adj" fmla="val 3266"/>
            </a:avLst>
          </a:prstGeom>
          <a:solidFill>
            <a:srgbClr val="542C49"/>
          </a:solidFill>
          <a:ln w="7620">
            <a:solidFill>
              <a:srgbClr val="6D4562"/>
            </a:solidFill>
            <a:prstDash val="solid"/>
          </a:ln>
        </p:spPr>
      </p:sp>
      <p:sp>
        <p:nvSpPr>
          <p:cNvPr id="6" name="Shape 3"/>
          <p:cNvSpPr/>
          <p:nvPr/>
        </p:nvSpPr>
        <p:spPr>
          <a:xfrm>
            <a:off x="942737" y="2613422"/>
            <a:ext cx="623411" cy="623411"/>
          </a:xfrm>
          <a:prstGeom prst="roundRect">
            <a:avLst>
              <a:gd name="adj" fmla="val 14666224"/>
            </a:avLst>
          </a:prstGeom>
          <a:solidFill>
            <a:srgbClr val="A95B95"/>
          </a:solidFill>
          <a:ln/>
        </p:spPr>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4187" y="2784753"/>
            <a:ext cx="280511" cy="280511"/>
          </a:xfrm>
          <a:prstGeom prst="rect">
            <a:avLst/>
          </a:prstGeom>
        </p:spPr>
      </p:pic>
      <p:sp>
        <p:nvSpPr>
          <p:cNvPr id="8" name="Text 4"/>
          <p:cNvSpPr/>
          <p:nvPr/>
        </p:nvSpPr>
        <p:spPr>
          <a:xfrm>
            <a:off x="942737" y="3444597"/>
            <a:ext cx="2448282" cy="288727"/>
          </a:xfrm>
          <a:prstGeom prst="rect">
            <a:avLst/>
          </a:prstGeom>
          <a:noFill/>
          <a:ln/>
        </p:spPr>
        <p:txBody>
          <a:bodyPr wrap="none" lIns="0" tIns="0" rIns="0" bIns="0" rtlCol="0" anchor="t"/>
          <a:lstStyle/>
          <a:p>
            <a:pPr marL="0" indent="0" algn="l">
              <a:lnSpc>
                <a:spcPts val="2250"/>
              </a:lnSpc>
              <a:buNone/>
            </a:pPr>
            <a:r>
              <a:rPr lang="en-US" sz="1800" dirty="0">
                <a:solidFill>
                  <a:srgbClr val="DAD8E9"/>
                </a:solidFill>
                <a:latin typeface="Prompt Medium" pitchFamily="34" charset="0"/>
                <a:ea typeface="Prompt Medium" pitchFamily="34" charset="-122"/>
                <a:cs typeface="Prompt Medium" pitchFamily="34" charset="-120"/>
              </a:rPr>
              <a:t>Two-Tier Architecture</a:t>
            </a:r>
            <a:endParaRPr lang="en-US" sz="1800" dirty="0"/>
          </a:p>
        </p:txBody>
      </p:sp>
      <p:sp>
        <p:nvSpPr>
          <p:cNvPr id="9" name="Text 5"/>
          <p:cNvSpPr/>
          <p:nvPr/>
        </p:nvSpPr>
        <p:spPr>
          <a:xfrm>
            <a:off x="942737" y="3857982"/>
            <a:ext cx="3309938" cy="997625"/>
          </a:xfrm>
          <a:prstGeom prst="rect">
            <a:avLst/>
          </a:prstGeom>
          <a:noFill/>
          <a:ln/>
        </p:spPr>
        <p:txBody>
          <a:bodyPr wrap="square" lIns="0" tIns="0" rIns="0" bIns="0" rtlCol="0" anchor="t"/>
          <a:lstStyle/>
          <a:p>
            <a:pPr marL="0" indent="0" algn="l">
              <a:lnSpc>
                <a:spcPts val="2600"/>
              </a:lnSpc>
              <a:buNone/>
            </a:pPr>
            <a:r>
              <a:rPr lang="en-US" sz="1600" dirty="0">
                <a:solidFill>
                  <a:srgbClr val="DAD8E9"/>
                </a:solidFill>
                <a:latin typeface="Mukta Light" pitchFamily="34" charset="0"/>
                <a:ea typeface="Mukta Light" pitchFamily="34" charset="-122"/>
                <a:cs typeface="Mukta Light" pitchFamily="34" charset="-120"/>
              </a:rPr>
              <a:t>T1 for recent items, T2 for frequent items—captures both recency and frequency dimensions.</a:t>
            </a:r>
            <a:endParaRPr lang="en-US" sz="1600" dirty="0"/>
          </a:p>
        </p:txBody>
      </p:sp>
      <p:sp>
        <p:nvSpPr>
          <p:cNvPr id="10" name="Shape 6"/>
          <p:cNvSpPr/>
          <p:nvPr/>
        </p:nvSpPr>
        <p:spPr>
          <a:xfrm>
            <a:off x="4675823" y="2398038"/>
            <a:ext cx="3740825" cy="2672953"/>
          </a:xfrm>
          <a:prstGeom prst="roundRect">
            <a:avLst>
              <a:gd name="adj" fmla="val 3266"/>
            </a:avLst>
          </a:prstGeom>
          <a:solidFill>
            <a:srgbClr val="542C49"/>
          </a:solidFill>
          <a:ln w="7620">
            <a:solidFill>
              <a:srgbClr val="6D4562"/>
            </a:solidFill>
            <a:prstDash val="solid"/>
          </a:ln>
        </p:spPr>
      </p:sp>
      <p:sp>
        <p:nvSpPr>
          <p:cNvPr id="11" name="Shape 7"/>
          <p:cNvSpPr/>
          <p:nvPr/>
        </p:nvSpPr>
        <p:spPr>
          <a:xfrm>
            <a:off x="4891207" y="2613422"/>
            <a:ext cx="623411" cy="623411"/>
          </a:xfrm>
          <a:prstGeom prst="roundRect">
            <a:avLst>
              <a:gd name="adj" fmla="val 14666224"/>
            </a:avLst>
          </a:prstGeom>
          <a:solidFill>
            <a:srgbClr val="A95B95"/>
          </a:solidFill>
          <a:ln/>
        </p:spPr>
      </p:sp>
      <p:pic>
        <p:nvPicPr>
          <p:cNvPr id="12"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62657" y="2784753"/>
            <a:ext cx="280511" cy="280511"/>
          </a:xfrm>
          <a:prstGeom prst="rect">
            <a:avLst/>
          </a:prstGeom>
        </p:spPr>
      </p:pic>
      <p:sp>
        <p:nvSpPr>
          <p:cNvPr id="13" name="Text 8"/>
          <p:cNvSpPr/>
          <p:nvPr/>
        </p:nvSpPr>
        <p:spPr>
          <a:xfrm>
            <a:off x="4891207" y="3444597"/>
            <a:ext cx="2309217" cy="288727"/>
          </a:xfrm>
          <a:prstGeom prst="rect">
            <a:avLst/>
          </a:prstGeom>
          <a:noFill/>
          <a:ln/>
        </p:spPr>
        <p:txBody>
          <a:bodyPr wrap="none" lIns="0" tIns="0" rIns="0" bIns="0" rtlCol="0" anchor="t"/>
          <a:lstStyle/>
          <a:p>
            <a:pPr marL="0" indent="0" algn="l">
              <a:lnSpc>
                <a:spcPts val="2250"/>
              </a:lnSpc>
              <a:buNone/>
            </a:pPr>
            <a:r>
              <a:rPr lang="en-US" sz="1800" dirty="0">
                <a:solidFill>
                  <a:srgbClr val="DAD8E9"/>
                </a:solidFill>
                <a:latin typeface="Prompt Medium" pitchFamily="34" charset="0"/>
                <a:ea typeface="Prompt Medium" pitchFamily="34" charset="-122"/>
                <a:cs typeface="Prompt Medium" pitchFamily="34" charset="-120"/>
              </a:rPr>
              <a:t>Adaptive Learning</a:t>
            </a:r>
            <a:endParaRPr lang="en-US" sz="1800" dirty="0"/>
          </a:p>
        </p:txBody>
      </p:sp>
      <p:sp>
        <p:nvSpPr>
          <p:cNvPr id="14" name="Text 9"/>
          <p:cNvSpPr/>
          <p:nvPr/>
        </p:nvSpPr>
        <p:spPr>
          <a:xfrm>
            <a:off x="4891207" y="3857982"/>
            <a:ext cx="3310057" cy="997625"/>
          </a:xfrm>
          <a:prstGeom prst="rect">
            <a:avLst/>
          </a:prstGeom>
          <a:noFill/>
          <a:ln/>
        </p:spPr>
        <p:txBody>
          <a:bodyPr wrap="square" lIns="0" tIns="0" rIns="0" bIns="0" rtlCol="0" anchor="t"/>
          <a:lstStyle/>
          <a:p>
            <a:pPr marL="0" indent="0" algn="l">
              <a:lnSpc>
                <a:spcPts val="2600"/>
              </a:lnSpc>
              <a:buNone/>
            </a:pPr>
            <a:r>
              <a:rPr lang="en-US" sz="1600" dirty="0">
                <a:solidFill>
                  <a:srgbClr val="DAD8E9"/>
                </a:solidFill>
                <a:latin typeface="Mukta Light" pitchFamily="34" charset="0"/>
                <a:ea typeface="Mukta Light" pitchFamily="34" charset="-122"/>
                <a:cs typeface="Mukta Light" pitchFamily="34" charset="-120"/>
              </a:rPr>
              <a:t>Ghost lists B1 and B2 track eviction patterns, allowing the algorithm to learn and adjust from mistakes.</a:t>
            </a:r>
            <a:endParaRPr lang="en-US" sz="1600" dirty="0"/>
          </a:p>
        </p:txBody>
      </p:sp>
      <p:sp>
        <p:nvSpPr>
          <p:cNvPr id="15" name="Shape 10"/>
          <p:cNvSpPr/>
          <p:nvPr/>
        </p:nvSpPr>
        <p:spPr>
          <a:xfrm>
            <a:off x="727353" y="5344221"/>
            <a:ext cx="7689294" cy="1619387"/>
          </a:xfrm>
          <a:prstGeom prst="roundRect">
            <a:avLst>
              <a:gd name="adj" fmla="val 3730"/>
            </a:avLst>
          </a:prstGeom>
          <a:solidFill>
            <a:srgbClr val="542C49"/>
          </a:solidFill>
          <a:ln w="7620">
            <a:solidFill>
              <a:srgbClr val="6D4562"/>
            </a:solidFill>
            <a:prstDash val="solid"/>
          </a:ln>
        </p:spPr>
      </p:sp>
      <p:sp>
        <p:nvSpPr>
          <p:cNvPr id="16" name="Shape 11"/>
          <p:cNvSpPr/>
          <p:nvPr/>
        </p:nvSpPr>
        <p:spPr>
          <a:xfrm>
            <a:off x="942736" y="5808412"/>
            <a:ext cx="623411" cy="623411"/>
          </a:xfrm>
          <a:prstGeom prst="roundRect">
            <a:avLst>
              <a:gd name="adj" fmla="val 14666224"/>
            </a:avLst>
          </a:prstGeom>
          <a:solidFill>
            <a:srgbClr val="A95B95"/>
          </a:solidFill>
          <a:ln/>
        </p:spPr>
      </p:sp>
      <p:pic>
        <p:nvPicPr>
          <p:cNvPr id="17"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278" y="5953720"/>
            <a:ext cx="451962" cy="451962"/>
          </a:xfrm>
          <a:prstGeom prst="rect">
            <a:avLst/>
          </a:prstGeom>
        </p:spPr>
      </p:pic>
      <p:sp>
        <p:nvSpPr>
          <p:cNvPr id="18" name="Text 12"/>
          <p:cNvSpPr/>
          <p:nvPr/>
        </p:nvSpPr>
        <p:spPr>
          <a:xfrm>
            <a:off x="1920476" y="5980992"/>
            <a:ext cx="3216371" cy="901661"/>
          </a:xfrm>
          <a:prstGeom prst="rect">
            <a:avLst/>
          </a:prstGeom>
          <a:noFill/>
          <a:ln/>
        </p:spPr>
        <p:txBody>
          <a:bodyPr wrap="none" lIns="0" tIns="0" rIns="0" bIns="0" rtlCol="0" anchor="t"/>
          <a:lstStyle/>
          <a:p>
            <a:pPr marL="0" indent="0" algn="l">
              <a:lnSpc>
                <a:spcPts val="2250"/>
              </a:lnSpc>
              <a:buNone/>
            </a:pPr>
            <a:r>
              <a:rPr lang="en-US" sz="2800" dirty="0">
                <a:solidFill>
                  <a:srgbClr val="DAD8E9"/>
                </a:solidFill>
                <a:latin typeface="Prompt Medium" pitchFamily="34" charset="0"/>
                <a:ea typeface="Prompt Medium" pitchFamily="34" charset="-122"/>
                <a:cs typeface="Prompt Medium" pitchFamily="34" charset="-120"/>
              </a:rPr>
              <a:t>O(n) Complexity</a:t>
            </a:r>
            <a:endParaRPr lang="en-US" sz="2800" dirty="0"/>
          </a:p>
        </p:txBody>
      </p:sp>
      <p:sp>
        <p:nvSpPr>
          <p:cNvPr id="19" name="Text 13"/>
          <p:cNvSpPr/>
          <p:nvPr/>
        </p:nvSpPr>
        <p:spPr>
          <a:xfrm>
            <a:off x="942737" y="6738699"/>
            <a:ext cx="7258526" cy="665083"/>
          </a:xfrm>
          <a:prstGeom prst="rect">
            <a:avLst/>
          </a:prstGeom>
          <a:noFill/>
          <a:ln/>
        </p:spPr>
        <p:txBody>
          <a:bodyPr wrap="square" lIns="0" tIns="0" rIns="0" bIns="0" rtlCol="0" anchor="t"/>
          <a:lstStyle/>
          <a:p>
            <a:pPr marL="0" indent="0" algn="l">
              <a:lnSpc>
                <a:spcPts val="2600"/>
              </a:lnSpc>
              <a:buNone/>
            </a:pPr>
            <a:endParaRPr lang="en-US" sz="1600" dirty="0"/>
          </a:p>
        </p:txBody>
      </p:sp>
      <p:sp>
        <p:nvSpPr>
          <p:cNvPr id="21" name="Rectangle 20">
            <a:extLst>
              <a:ext uri="{FF2B5EF4-FFF2-40B4-BE49-F238E27FC236}">
                <a16:creationId xmlns:a16="http://schemas.microsoft.com/office/drawing/2014/main" id="{F241DFFE-572E-4B84-EDB3-166E1BBDB9DA}"/>
              </a:ext>
            </a:extLst>
          </p:cNvPr>
          <p:cNvSpPr/>
          <p:nvPr/>
        </p:nvSpPr>
        <p:spPr>
          <a:xfrm>
            <a:off x="12549508" y="7190899"/>
            <a:ext cx="1964982"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screenshot of a computer&#10;&#10;AI-generated content may be incorrect.">
            <a:extLst>
              <a:ext uri="{FF2B5EF4-FFF2-40B4-BE49-F238E27FC236}">
                <a16:creationId xmlns:a16="http://schemas.microsoft.com/office/drawing/2014/main" id="{E8999926-E39F-C545-A389-4A6C6692C375}"/>
              </a:ext>
            </a:extLst>
          </p:cNvPr>
          <p:cNvPicPr>
            <a:picLocks noChangeAspect="1"/>
          </p:cNvPicPr>
          <p:nvPr/>
        </p:nvPicPr>
        <p:blipFill>
          <a:blip r:embed="rId9"/>
          <a:srcRect r="29617"/>
          <a:stretch>
            <a:fillRect/>
          </a:stretch>
        </p:blipFill>
        <p:spPr>
          <a:xfrm>
            <a:off x="8770977" y="2747605"/>
            <a:ext cx="5479918" cy="42160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844850" y="1538217"/>
            <a:ext cx="7144464" cy="623411"/>
          </a:xfrm>
          <a:prstGeom prst="rect">
            <a:avLst/>
          </a:prstGeom>
          <a:noFill/>
          <a:ln/>
        </p:spPr>
        <p:txBody>
          <a:bodyPr wrap="none" lIns="0" tIns="0" rIns="0" bIns="0" rtlCol="0" anchor="t"/>
          <a:lstStyle/>
          <a:p>
            <a:pPr marL="0" indent="0" algn="l">
              <a:lnSpc>
                <a:spcPts val="4900"/>
              </a:lnSpc>
              <a:buNone/>
            </a:pPr>
            <a:r>
              <a:rPr lang="en-US" sz="3900" dirty="0">
                <a:solidFill>
                  <a:srgbClr val="C6BFEE"/>
                </a:solidFill>
                <a:latin typeface="Prompt Medium" pitchFamily="34" charset="0"/>
                <a:ea typeface="Prompt Medium" pitchFamily="34" charset="-122"/>
                <a:cs typeface="Prompt Medium" pitchFamily="34" charset="-120"/>
              </a:rPr>
              <a:t>Value-Based Scoring Formula</a:t>
            </a:r>
            <a:endParaRPr lang="en-US" sz="3900" dirty="0"/>
          </a:p>
        </p:txBody>
      </p:sp>
      <p:sp>
        <p:nvSpPr>
          <p:cNvPr id="4" name="Text 1"/>
          <p:cNvSpPr/>
          <p:nvPr/>
        </p:nvSpPr>
        <p:spPr>
          <a:xfrm>
            <a:off x="6844850" y="2498218"/>
            <a:ext cx="7573089" cy="359092"/>
          </a:xfrm>
          <a:prstGeom prst="rect">
            <a:avLst/>
          </a:prstGeom>
          <a:noFill/>
          <a:ln/>
        </p:spPr>
        <p:txBody>
          <a:bodyPr wrap="non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Intelligent eviction decisions using combined frequency and recency metrics.</a:t>
            </a:r>
            <a:endParaRPr lang="en-US" sz="1750" dirty="0"/>
          </a:p>
        </p:txBody>
      </p:sp>
      <p:sp>
        <p:nvSpPr>
          <p:cNvPr id="5" name="Text 2"/>
          <p:cNvSpPr/>
          <p:nvPr/>
        </p:nvSpPr>
        <p:spPr>
          <a:xfrm>
            <a:off x="6844850" y="3193901"/>
            <a:ext cx="7573089" cy="1720691"/>
          </a:xfrm>
          <a:prstGeom prst="rect">
            <a:avLst/>
          </a:prstGeom>
          <a:noFill/>
          <a:ln/>
        </p:spPr>
        <p:txBody>
          <a:bodyPr wrap="square" lIns="0" tIns="0" rIns="0" bIns="0" rtlCol="0" anchor="t"/>
          <a:lstStyle/>
          <a:p>
            <a:pPr marL="0" indent="0" algn="l">
              <a:lnSpc>
                <a:spcPts val="6750"/>
              </a:lnSpc>
              <a:buNone/>
            </a:pPr>
            <a:r>
              <a:rPr lang="en-US" sz="5400" dirty="0">
                <a:solidFill>
                  <a:srgbClr val="C6BFEE"/>
                </a:solidFill>
                <a:latin typeface="Prompt Medium" pitchFamily="34" charset="0"/>
                <a:ea typeface="Prompt Medium" pitchFamily="34" charset="-122"/>
                <a:cs typeface="Prompt Medium" pitchFamily="34" charset="-120"/>
              </a:rPr>
              <a:t>score = frequency^1.2 × (1 / recency^0.5)</a:t>
            </a:r>
            <a:endParaRPr lang="en-US" sz="5400" dirty="0"/>
          </a:p>
        </p:txBody>
      </p:sp>
      <p:sp>
        <p:nvSpPr>
          <p:cNvPr id="6" name="Text 3"/>
          <p:cNvSpPr/>
          <p:nvPr/>
        </p:nvSpPr>
        <p:spPr>
          <a:xfrm>
            <a:off x="6844850" y="5251182"/>
            <a:ext cx="7573089" cy="1436370"/>
          </a:xfrm>
          <a:prstGeom prst="rect">
            <a:avLst/>
          </a:prstGeom>
          <a:noFill/>
          <a:ln/>
        </p:spPr>
        <p:txBody>
          <a:bodyPr wrap="square" lIns="0" tIns="0" rIns="0" bIns="0" rtlCol="0" anchor="t"/>
          <a:lstStyle/>
          <a:p>
            <a:pPr marL="0" indent="0" algn="l">
              <a:lnSpc>
                <a:spcPts val="2800"/>
              </a:lnSpc>
              <a:buNone/>
            </a:pPr>
            <a:r>
              <a:rPr lang="en-US" sz="1750" dirty="0">
                <a:solidFill>
                  <a:srgbClr val="DAD8E9"/>
                </a:solidFill>
                <a:latin typeface="Mukta Light" pitchFamily="34" charset="0"/>
                <a:ea typeface="Mukta Light" pitchFamily="34" charset="-122"/>
                <a:cs typeface="Mukta Light" pitchFamily="34" charset="-120"/>
              </a:rPr>
              <a:t>This formula weighs frequency more heavily (exponent 1.2) while moderating recency's impact (reciprocal with exponent 0.5). Items with high frequency and recent access receive higher scores, avoiding premature eviction of frequently-used data.</a:t>
            </a:r>
            <a:endParaRPr lang="en-US" sz="1750" dirty="0"/>
          </a:p>
        </p:txBody>
      </p:sp>
      <p:sp>
        <p:nvSpPr>
          <p:cNvPr id="7" name="Rectangle 6">
            <a:extLst>
              <a:ext uri="{FF2B5EF4-FFF2-40B4-BE49-F238E27FC236}">
                <a16:creationId xmlns:a16="http://schemas.microsoft.com/office/drawing/2014/main" id="{E498BC42-A7CF-5FAD-0128-29EB8EB0DCA9}"/>
              </a:ext>
            </a:extLst>
          </p:cNvPr>
          <p:cNvSpPr/>
          <p:nvPr/>
        </p:nvSpPr>
        <p:spPr>
          <a:xfrm>
            <a:off x="12549508" y="7190899"/>
            <a:ext cx="1964982"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D2A4B43-9B19-DF8F-A3E9-0643872408C1}"/>
              </a:ext>
            </a:extLst>
          </p:cNvPr>
          <p:cNvPicPr>
            <a:picLocks noChangeAspect="1"/>
          </p:cNvPicPr>
          <p:nvPr/>
        </p:nvPicPr>
        <p:blipFill>
          <a:blip r:embed="rId3"/>
          <a:stretch>
            <a:fillRect/>
          </a:stretch>
        </p:blipFill>
        <p:spPr>
          <a:xfrm>
            <a:off x="212461" y="2108833"/>
            <a:ext cx="6487543" cy="39592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3766" y="474345"/>
            <a:ext cx="3833812" cy="479227"/>
          </a:xfrm>
          <a:prstGeom prst="rect">
            <a:avLst/>
          </a:prstGeom>
          <a:noFill/>
          <a:ln/>
        </p:spPr>
        <p:txBody>
          <a:bodyPr wrap="none" lIns="0" tIns="0" rIns="0" bIns="0" rtlCol="0" anchor="t"/>
          <a:lstStyle/>
          <a:p>
            <a:pPr marL="0" indent="0" algn="l">
              <a:lnSpc>
                <a:spcPts val="3750"/>
              </a:lnSpc>
              <a:buNone/>
            </a:pPr>
            <a:r>
              <a:rPr lang="en-US" sz="3000" dirty="0">
                <a:solidFill>
                  <a:srgbClr val="C6BFEE"/>
                </a:solidFill>
                <a:latin typeface="Prompt Medium" pitchFamily="34" charset="0"/>
                <a:ea typeface="Prompt Medium" pitchFamily="34" charset="-122"/>
                <a:cs typeface="Prompt Medium" pitchFamily="34" charset="-120"/>
              </a:rPr>
              <a:t>Performance Results</a:t>
            </a:r>
            <a:endParaRPr lang="en-US" sz="3000" dirty="0"/>
          </a:p>
        </p:txBody>
      </p:sp>
      <p:sp>
        <p:nvSpPr>
          <p:cNvPr id="3" name="Text 1"/>
          <p:cNvSpPr/>
          <p:nvPr/>
        </p:nvSpPr>
        <p:spPr>
          <a:xfrm>
            <a:off x="603766" y="1079674"/>
            <a:ext cx="13422868" cy="275987"/>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Comprehensive comparison across all four algorithms on three distinct workload patterns.</a:t>
            </a:r>
            <a:endParaRPr lang="en-US" sz="1350" dirty="0"/>
          </a:p>
        </p:txBody>
      </p:sp>
      <p:pic>
        <p:nvPicPr>
          <p:cNvPr id="4" name="Image 0" descr="preencoded.png"/>
          <p:cNvPicPr>
            <a:picLocks noChangeAspect="1"/>
          </p:cNvPicPr>
          <p:nvPr/>
        </p:nvPicPr>
        <p:blipFill>
          <a:blip r:embed="rId3"/>
          <a:stretch>
            <a:fillRect/>
          </a:stretch>
        </p:blipFill>
        <p:spPr>
          <a:xfrm>
            <a:off x="1346200" y="1539771"/>
            <a:ext cx="11256583" cy="6303659"/>
          </a:xfrm>
          <a:prstGeom prst="rect">
            <a:avLst/>
          </a:prstGeom>
        </p:spPr>
      </p:pic>
      <p:sp>
        <p:nvSpPr>
          <p:cNvPr id="5" name="Rectangle 4">
            <a:extLst>
              <a:ext uri="{FF2B5EF4-FFF2-40B4-BE49-F238E27FC236}">
                <a16:creationId xmlns:a16="http://schemas.microsoft.com/office/drawing/2014/main" id="{0E5D61AC-C717-11F7-73BE-37248D519D3F}"/>
              </a:ext>
            </a:extLst>
          </p:cNvPr>
          <p:cNvSpPr/>
          <p:nvPr/>
        </p:nvSpPr>
        <p:spPr>
          <a:xfrm>
            <a:off x="12602782" y="7190899"/>
            <a:ext cx="1911707"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3643967" y="434935"/>
            <a:ext cx="7342465"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Performance Improvements</a:t>
            </a:r>
            <a:endParaRPr lang="en-US" sz="4300" dirty="0"/>
          </a:p>
        </p:txBody>
      </p:sp>
      <p:sp>
        <p:nvSpPr>
          <p:cNvPr id="4" name="Text 1"/>
          <p:cNvSpPr/>
          <p:nvPr/>
        </p:nvSpPr>
        <p:spPr>
          <a:xfrm>
            <a:off x="3607235" y="1077456"/>
            <a:ext cx="7415927" cy="395049"/>
          </a:xfrm>
          <a:prstGeom prst="rect">
            <a:avLst/>
          </a:prstGeom>
          <a:noFill/>
          <a:ln/>
        </p:spPr>
        <p:txBody>
          <a:bodyPr wrap="non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Adaptive-ARC demonstrates consistent advantages across all baselines.</a:t>
            </a:r>
            <a:endParaRPr lang="en-US" sz="1900" dirty="0"/>
          </a:p>
        </p:txBody>
      </p:sp>
      <p:sp>
        <p:nvSpPr>
          <p:cNvPr id="5" name="Text 2"/>
          <p:cNvSpPr/>
          <p:nvPr/>
        </p:nvSpPr>
        <p:spPr>
          <a:xfrm>
            <a:off x="864037" y="3246120"/>
            <a:ext cx="22662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+4.36%</a:t>
            </a:r>
            <a:endParaRPr lang="en-US" sz="6400" dirty="0"/>
          </a:p>
        </p:txBody>
      </p:sp>
      <p:sp>
        <p:nvSpPr>
          <p:cNvPr id="6" name="Text 3"/>
          <p:cNvSpPr/>
          <p:nvPr/>
        </p:nvSpPr>
        <p:spPr>
          <a:xfrm>
            <a:off x="864037" y="4369237"/>
            <a:ext cx="2266236"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vs LRU</a:t>
            </a:r>
            <a:endParaRPr lang="en-US" sz="2150" dirty="0"/>
          </a:p>
        </p:txBody>
      </p:sp>
      <p:sp>
        <p:nvSpPr>
          <p:cNvPr id="7" name="Text 4"/>
          <p:cNvSpPr/>
          <p:nvPr/>
        </p:nvSpPr>
        <p:spPr>
          <a:xfrm>
            <a:off x="864037" y="4860250"/>
            <a:ext cx="2266236" cy="1580198"/>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Higher hit rate demonstrates superior adaptivity to mixed workloads</a:t>
            </a:r>
            <a:endParaRPr lang="en-US" sz="1900" dirty="0"/>
          </a:p>
        </p:txBody>
      </p:sp>
      <p:sp>
        <p:nvSpPr>
          <p:cNvPr id="8" name="Text 5"/>
          <p:cNvSpPr/>
          <p:nvPr/>
        </p:nvSpPr>
        <p:spPr>
          <a:xfrm>
            <a:off x="5940266" y="3246120"/>
            <a:ext cx="22662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+5.99%</a:t>
            </a:r>
            <a:endParaRPr lang="en-US" sz="6400" dirty="0"/>
          </a:p>
        </p:txBody>
      </p:sp>
      <p:sp>
        <p:nvSpPr>
          <p:cNvPr id="9" name="Text 6"/>
          <p:cNvSpPr/>
          <p:nvPr/>
        </p:nvSpPr>
        <p:spPr>
          <a:xfrm>
            <a:off x="5940266" y="4369237"/>
            <a:ext cx="2266236"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vs FIFO</a:t>
            </a:r>
            <a:endParaRPr lang="en-US" sz="2150" dirty="0"/>
          </a:p>
        </p:txBody>
      </p:sp>
      <p:sp>
        <p:nvSpPr>
          <p:cNvPr id="10" name="Text 7"/>
          <p:cNvSpPr/>
          <p:nvPr/>
        </p:nvSpPr>
        <p:spPr>
          <a:xfrm>
            <a:off x="5940266" y="4860250"/>
            <a:ext cx="2266236" cy="1580198"/>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Pattern-aware approach significantly outperforms position-based eviction</a:t>
            </a:r>
            <a:endParaRPr lang="en-US" sz="1900" dirty="0"/>
          </a:p>
        </p:txBody>
      </p:sp>
      <p:sp>
        <p:nvSpPr>
          <p:cNvPr id="11" name="Text 8"/>
          <p:cNvSpPr/>
          <p:nvPr/>
        </p:nvSpPr>
        <p:spPr>
          <a:xfrm>
            <a:off x="10846985" y="3246120"/>
            <a:ext cx="2266236" cy="814626"/>
          </a:xfrm>
          <a:prstGeom prst="rect">
            <a:avLst/>
          </a:prstGeom>
          <a:noFill/>
          <a:ln/>
        </p:spPr>
        <p:txBody>
          <a:bodyPr wrap="none" lIns="0" tIns="0" rIns="0" bIns="0" rtlCol="0" anchor="t"/>
          <a:lstStyle/>
          <a:p>
            <a:pPr marL="0" indent="0" algn="ctr">
              <a:lnSpc>
                <a:spcPts val="6400"/>
              </a:lnSpc>
              <a:buNone/>
            </a:pPr>
            <a:r>
              <a:rPr lang="en-US" sz="6400" dirty="0">
                <a:solidFill>
                  <a:srgbClr val="DAD8E9"/>
                </a:solidFill>
                <a:latin typeface="Prompt Medium" pitchFamily="34" charset="0"/>
                <a:ea typeface="Prompt Medium" pitchFamily="34" charset="-122"/>
                <a:cs typeface="Prompt Medium" pitchFamily="34" charset="-120"/>
              </a:rPr>
              <a:t>+12.38%</a:t>
            </a:r>
            <a:endParaRPr lang="en-US" sz="6400" dirty="0"/>
          </a:p>
        </p:txBody>
      </p:sp>
      <p:sp>
        <p:nvSpPr>
          <p:cNvPr id="12" name="Text 9"/>
          <p:cNvSpPr/>
          <p:nvPr/>
        </p:nvSpPr>
        <p:spPr>
          <a:xfrm>
            <a:off x="10846985" y="4369237"/>
            <a:ext cx="2266236" cy="342900"/>
          </a:xfrm>
          <a:prstGeom prst="rect">
            <a:avLst/>
          </a:prstGeom>
          <a:noFill/>
          <a:ln/>
        </p:spPr>
        <p:txBody>
          <a:bodyPr wrap="none" lIns="0" tIns="0" rIns="0" bIns="0" rtlCol="0" anchor="t"/>
          <a:lstStyle/>
          <a:p>
            <a:pPr marL="0" indent="0" algn="ctr">
              <a:lnSpc>
                <a:spcPts val="2700"/>
              </a:lnSpc>
              <a:buNone/>
            </a:pPr>
            <a:r>
              <a:rPr lang="en-US" sz="2150" dirty="0">
                <a:solidFill>
                  <a:srgbClr val="DAD8E9"/>
                </a:solidFill>
                <a:latin typeface="Prompt Medium" pitchFamily="34" charset="0"/>
                <a:ea typeface="Prompt Medium" pitchFamily="34" charset="-122"/>
                <a:cs typeface="Prompt Medium" pitchFamily="34" charset="-120"/>
              </a:rPr>
              <a:t>vs LFU</a:t>
            </a:r>
            <a:endParaRPr lang="en-US" sz="2150" dirty="0"/>
          </a:p>
        </p:txBody>
      </p:sp>
      <p:sp>
        <p:nvSpPr>
          <p:cNvPr id="13" name="Text 10"/>
          <p:cNvSpPr/>
          <p:nvPr/>
        </p:nvSpPr>
        <p:spPr>
          <a:xfrm>
            <a:off x="10846985" y="4860250"/>
            <a:ext cx="2266236" cy="1975247"/>
          </a:xfrm>
          <a:prstGeom prst="rect">
            <a:avLst/>
          </a:prstGeom>
          <a:noFill/>
          <a:ln/>
        </p:spPr>
        <p:txBody>
          <a:bodyPr wrap="squar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cs typeface="Mukta Light" pitchFamily="34" charset="-120"/>
              </a:rPr>
              <a:t>Eliminates cache pollution through intelligent item promotion mechanisms</a:t>
            </a:r>
            <a:endParaRPr lang="en-US" sz="1900" dirty="0"/>
          </a:p>
        </p:txBody>
      </p:sp>
      <p:sp>
        <p:nvSpPr>
          <p:cNvPr id="14" name="Rectangle 13">
            <a:extLst>
              <a:ext uri="{FF2B5EF4-FFF2-40B4-BE49-F238E27FC236}">
                <a16:creationId xmlns:a16="http://schemas.microsoft.com/office/drawing/2014/main" id="{69992271-4F82-C772-5F40-C7539EF6BBAE}"/>
              </a:ext>
            </a:extLst>
          </p:cNvPr>
          <p:cNvSpPr/>
          <p:nvPr/>
        </p:nvSpPr>
        <p:spPr>
          <a:xfrm>
            <a:off x="12549508" y="7190899"/>
            <a:ext cx="1964982" cy="914400"/>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810697" y="562510"/>
            <a:ext cx="7002661" cy="643533"/>
          </a:xfrm>
          <a:prstGeom prst="rect">
            <a:avLst/>
          </a:prstGeom>
          <a:noFill/>
          <a:ln/>
        </p:spPr>
        <p:txBody>
          <a:bodyPr wrap="none" lIns="0" tIns="0" rIns="0" bIns="0" rtlCol="0" anchor="t"/>
          <a:lstStyle/>
          <a:p>
            <a:pPr marL="0" indent="0" algn="l">
              <a:lnSpc>
                <a:spcPts val="5050"/>
              </a:lnSpc>
              <a:buNone/>
            </a:pPr>
            <a:r>
              <a:rPr lang="en-US" sz="4050" dirty="0">
                <a:solidFill>
                  <a:srgbClr val="C6BFEE"/>
                </a:solidFill>
                <a:latin typeface="Prompt Medium" pitchFamily="34" charset="0"/>
                <a:ea typeface="Prompt Medium" pitchFamily="34" charset="-122"/>
                <a:cs typeface="Prompt Medium" pitchFamily="34" charset="-120"/>
              </a:rPr>
              <a:t>What we learnt?</a:t>
            </a:r>
            <a:endParaRPr lang="en-US" sz="4050" dirty="0"/>
          </a:p>
        </p:txBody>
      </p:sp>
      <p:sp>
        <p:nvSpPr>
          <p:cNvPr id="4" name="Text 1"/>
          <p:cNvSpPr/>
          <p:nvPr/>
        </p:nvSpPr>
        <p:spPr>
          <a:xfrm>
            <a:off x="810695" y="1206043"/>
            <a:ext cx="13009007" cy="370642"/>
          </a:xfrm>
          <a:prstGeom prst="rect">
            <a:avLst/>
          </a:prstGeom>
          <a:noFill/>
          <a:ln/>
        </p:spPr>
        <p:txBody>
          <a:bodyPr wrap="none" lIns="0" tIns="0" rIns="0" bIns="0" rtlCol="0" anchor="t"/>
          <a:lstStyle/>
          <a:p>
            <a:pPr marL="0" indent="0" algn="l">
              <a:lnSpc>
                <a:spcPts val="2900"/>
              </a:lnSpc>
              <a:buNone/>
            </a:pPr>
            <a:r>
              <a:rPr lang="en-US" sz="1800" dirty="0">
                <a:solidFill>
                  <a:srgbClr val="DAD8E9"/>
                </a:solidFill>
                <a:latin typeface="Mukta Light" pitchFamily="34" charset="0"/>
                <a:ea typeface="Mukta Light" pitchFamily="34" charset="-122"/>
                <a:cs typeface="Mukta Light" pitchFamily="34" charset="-120"/>
              </a:rPr>
              <a:t>This project demonstrates algorithm design principles through practical implementation and rigorous evaluation.</a:t>
            </a:r>
            <a:endParaRPr lang="en-US" sz="1800" dirty="0"/>
          </a:p>
        </p:txBody>
      </p:sp>
      <p:sp>
        <p:nvSpPr>
          <p:cNvPr id="5" name="Shape 2"/>
          <p:cNvSpPr/>
          <p:nvPr/>
        </p:nvSpPr>
        <p:spPr>
          <a:xfrm>
            <a:off x="810697" y="5162907"/>
            <a:ext cx="4181951" cy="2421612"/>
          </a:xfrm>
          <a:prstGeom prst="roundRect">
            <a:avLst>
              <a:gd name="adj" fmla="val 4018"/>
            </a:avLst>
          </a:prstGeom>
          <a:solidFill>
            <a:srgbClr val="542C49"/>
          </a:solidFill>
          <a:ln w="7620">
            <a:solidFill>
              <a:srgbClr val="6D4562"/>
            </a:solidFill>
            <a:prstDash val="solid"/>
          </a:ln>
        </p:spPr>
      </p:sp>
      <p:sp>
        <p:nvSpPr>
          <p:cNvPr id="6" name="Text 3"/>
          <p:cNvSpPr/>
          <p:nvPr/>
        </p:nvSpPr>
        <p:spPr>
          <a:xfrm>
            <a:off x="1049893" y="5402104"/>
            <a:ext cx="2908816" cy="321707"/>
          </a:xfrm>
          <a:prstGeom prst="rect">
            <a:avLst/>
          </a:prstGeom>
          <a:noFill/>
          <a:ln/>
        </p:spPr>
        <p:txBody>
          <a:bodyPr wrap="none" lIns="0" tIns="0" rIns="0" bIns="0" rtlCol="0" anchor="t"/>
          <a:lstStyle/>
          <a:p>
            <a:pPr marL="0" indent="0" algn="l">
              <a:lnSpc>
                <a:spcPts val="2500"/>
              </a:lnSpc>
              <a:buNone/>
            </a:pPr>
            <a:r>
              <a:rPr lang="en-US" sz="2000" dirty="0">
                <a:solidFill>
                  <a:srgbClr val="DAD8E9"/>
                </a:solidFill>
                <a:latin typeface="Prompt Medium" pitchFamily="34" charset="0"/>
                <a:ea typeface="Prompt Medium" pitchFamily="34" charset="-122"/>
                <a:cs typeface="Prompt Medium" pitchFamily="34" charset="-120"/>
              </a:rPr>
              <a:t>Algorithm Composition</a:t>
            </a:r>
            <a:endParaRPr lang="en-US" sz="2000" dirty="0"/>
          </a:p>
        </p:txBody>
      </p:sp>
      <p:sp>
        <p:nvSpPr>
          <p:cNvPr id="7" name="Text 4"/>
          <p:cNvSpPr/>
          <p:nvPr/>
        </p:nvSpPr>
        <p:spPr>
          <a:xfrm>
            <a:off x="1049893" y="5862757"/>
            <a:ext cx="3703558" cy="1482566"/>
          </a:xfrm>
          <a:prstGeom prst="rect">
            <a:avLst/>
          </a:prstGeom>
          <a:noFill/>
          <a:ln/>
        </p:spPr>
        <p:txBody>
          <a:bodyPr wrap="square" lIns="0" tIns="0" rIns="0" bIns="0" rtlCol="0" anchor="t"/>
          <a:lstStyle/>
          <a:p>
            <a:pPr marL="0" indent="0" algn="l">
              <a:lnSpc>
                <a:spcPts val="2900"/>
              </a:lnSpc>
              <a:buNone/>
            </a:pPr>
            <a:r>
              <a:rPr lang="en-US" dirty="0">
                <a:solidFill>
                  <a:srgbClr val="DAD8E9"/>
                </a:solidFill>
                <a:latin typeface="Mukta Light" pitchFamily="34" charset="0"/>
                <a:ea typeface="Mukta Light" pitchFamily="34" charset="-122"/>
                <a:cs typeface="Mukta Light" pitchFamily="34" charset="-120"/>
              </a:rPr>
              <a:t>By c</a:t>
            </a:r>
            <a:r>
              <a:rPr lang="en-US" sz="1800" dirty="0">
                <a:solidFill>
                  <a:srgbClr val="DAD8E9"/>
                </a:solidFill>
                <a:latin typeface="Mukta Light" pitchFamily="34" charset="0"/>
                <a:ea typeface="Mukta Light" pitchFamily="34" charset="-122"/>
                <a:cs typeface="Mukta Light" pitchFamily="34" charset="-120"/>
              </a:rPr>
              <a:t>ombination of LRU, LFU, and adaptive techniques we were able to get superior performance while maintaining the time complexity</a:t>
            </a:r>
            <a:endParaRPr lang="en-US" sz="1800" dirty="0"/>
          </a:p>
        </p:txBody>
      </p:sp>
      <p:sp>
        <p:nvSpPr>
          <p:cNvPr id="8" name="Shape 5"/>
          <p:cNvSpPr/>
          <p:nvPr/>
        </p:nvSpPr>
        <p:spPr>
          <a:xfrm>
            <a:off x="5224224" y="5162907"/>
            <a:ext cx="4181951" cy="2421612"/>
          </a:xfrm>
          <a:prstGeom prst="roundRect">
            <a:avLst>
              <a:gd name="adj" fmla="val 4018"/>
            </a:avLst>
          </a:prstGeom>
          <a:solidFill>
            <a:srgbClr val="542C49"/>
          </a:solidFill>
          <a:ln w="7620">
            <a:solidFill>
              <a:srgbClr val="6D4562"/>
            </a:solidFill>
            <a:prstDash val="solid"/>
          </a:ln>
        </p:spPr>
      </p:sp>
      <p:sp>
        <p:nvSpPr>
          <p:cNvPr id="9" name="Text 6"/>
          <p:cNvSpPr/>
          <p:nvPr/>
        </p:nvSpPr>
        <p:spPr>
          <a:xfrm>
            <a:off x="5463421" y="5402104"/>
            <a:ext cx="2573893" cy="321707"/>
          </a:xfrm>
          <a:prstGeom prst="rect">
            <a:avLst/>
          </a:prstGeom>
          <a:noFill/>
          <a:ln/>
        </p:spPr>
        <p:txBody>
          <a:bodyPr wrap="none" lIns="0" tIns="0" rIns="0" bIns="0" rtlCol="0" anchor="t"/>
          <a:lstStyle/>
          <a:p>
            <a:pPr marL="0" indent="0" algn="l">
              <a:lnSpc>
                <a:spcPts val="2500"/>
              </a:lnSpc>
              <a:buNone/>
            </a:pPr>
            <a:r>
              <a:rPr lang="en-US" sz="2000" dirty="0">
                <a:solidFill>
                  <a:srgbClr val="DAD8E9"/>
                </a:solidFill>
                <a:latin typeface="Prompt Medium" pitchFamily="34" charset="0"/>
                <a:ea typeface="Prompt Medium" pitchFamily="34" charset="-122"/>
                <a:cs typeface="Prompt Medium" pitchFamily="34" charset="-120"/>
              </a:rPr>
              <a:t>Empirical Analysis</a:t>
            </a:r>
            <a:endParaRPr lang="en-US" sz="2000" dirty="0"/>
          </a:p>
        </p:txBody>
      </p:sp>
      <p:sp>
        <p:nvSpPr>
          <p:cNvPr id="10" name="Text 7"/>
          <p:cNvSpPr/>
          <p:nvPr/>
        </p:nvSpPr>
        <p:spPr>
          <a:xfrm>
            <a:off x="5463421" y="5723811"/>
            <a:ext cx="3703558" cy="1482566"/>
          </a:xfrm>
          <a:prstGeom prst="rect">
            <a:avLst/>
          </a:prstGeom>
          <a:noFill/>
          <a:ln/>
        </p:spPr>
        <p:txBody>
          <a:bodyPr wrap="square" lIns="0" tIns="0" rIns="0" bIns="0" rtlCol="0" anchor="t"/>
          <a:lstStyle/>
          <a:p>
            <a:pPr marL="0" indent="0" algn="just">
              <a:lnSpc>
                <a:spcPts val="2900"/>
              </a:lnSpc>
              <a:buNone/>
            </a:pPr>
            <a:r>
              <a:rPr lang="en-US" sz="1800" dirty="0">
                <a:solidFill>
                  <a:srgbClr val="DAD8E9"/>
                </a:solidFill>
                <a:latin typeface="Mukta Light" pitchFamily="34" charset="0"/>
                <a:ea typeface="Mukta Light" pitchFamily="34" charset="-122"/>
                <a:cs typeface="Mukta Light" pitchFamily="34" charset="-120"/>
              </a:rPr>
              <a:t>We did comprehensive testing for all three workload patterns which validates our design choices and demonstrates robustness to real-world scenarios.</a:t>
            </a:r>
            <a:endParaRPr lang="en-US" sz="1800" dirty="0"/>
          </a:p>
        </p:txBody>
      </p:sp>
      <p:sp>
        <p:nvSpPr>
          <p:cNvPr id="11" name="Shape 8"/>
          <p:cNvSpPr/>
          <p:nvPr/>
        </p:nvSpPr>
        <p:spPr>
          <a:xfrm>
            <a:off x="9637752" y="5162907"/>
            <a:ext cx="4181951" cy="2421612"/>
          </a:xfrm>
          <a:prstGeom prst="roundRect">
            <a:avLst>
              <a:gd name="adj" fmla="val 4018"/>
            </a:avLst>
          </a:prstGeom>
          <a:solidFill>
            <a:srgbClr val="542C49"/>
          </a:solidFill>
          <a:ln w="7620">
            <a:solidFill>
              <a:srgbClr val="6D4562"/>
            </a:solidFill>
            <a:prstDash val="solid"/>
          </a:ln>
        </p:spPr>
      </p:sp>
      <p:sp>
        <p:nvSpPr>
          <p:cNvPr id="12" name="Text 9"/>
          <p:cNvSpPr/>
          <p:nvPr/>
        </p:nvSpPr>
        <p:spPr>
          <a:xfrm>
            <a:off x="9876949" y="5402104"/>
            <a:ext cx="2835950" cy="321707"/>
          </a:xfrm>
          <a:prstGeom prst="rect">
            <a:avLst/>
          </a:prstGeom>
          <a:noFill/>
          <a:ln/>
        </p:spPr>
        <p:txBody>
          <a:bodyPr wrap="none" lIns="0" tIns="0" rIns="0" bIns="0" rtlCol="0" anchor="t"/>
          <a:lstStyle/>
          <a:p>
            <a:pPr marL="0" indent="0" algn="l">
              <a:lnSpc>
                <a:spcPts val="2500"/>
              </a:lnSpc>
              <a:buNone/>
            </a:pPr>
            <a:r>
              <a:rPr lang="en-US" sz="2000" dirty="0">
                <a:solidFill>
                  <a:srgbClr val="DAD8E9"/>
                </a:solidFill>
                <a:latin typeface="Prompt Medium" pitchFamily="34" charset="0"/>
                <a:ea typeface="Prompt Medium" pitchFamily="34" charset="-122"/>
                <a:cs typeface="Prompt Medium" pitchFamily="34" charset="-120"/>
              </a:rPr>
              <a:t>Complexity Excellence</a:t>
            </a:r>
            <a:endParaRPr lang="en-US" sz="2000" dirty="0"/>
          </a:p>
        </p:txBody>
      </p:sp>
      <p:sp>
        <p:nvSpPr>
          <p:cNvPr id="13" name="Text 10"/>
          <p:cNvSpPr/>
          <p:nvPr/>
        </p:nvSpPr>
        <p:spPr>
          <a:xfrm>
            <a:off x="9876949" y="5862757"/>
            <a:ext cx="3703558" cy="1482566"/>
          </a:xfrm>
          <a:prstGeom prst="rect">
            <a:avLst/>
          </a:prstGeom>
          <a:noFill/>
          <a:ln/>
        </p:spPr>
        <p:txBody>
          <a:bodyPr wrap="square" lIns="0" tIns="0" rIns="0" bIns="0" rtlCol="0" anchor="t"/>
          <a:lstStyle/>
          <a:p>
            <a:pPr marL="0" indent="0" algn="l">
              <a:lnSpc>
                <a:spcPts val="2900"/>
              </a:lnSpc>
              <a:buNone/>
            </a:pPr>
            <a:r>
              <a:rPr lang="en-US" sz="1800" dirty="0">
                <a:solidFill>
                  <a:srgbClr val="DAD8E9"/>
                </a:solidFill>
                <a:latin typeface="Mukta Light" pitchFamily="34" charset="0"/>
                <a:ea typeface="Mukta Light" pitchFamily="34" charset="-122"/>
                <a:cs typeface="Mukta Light" pitchFamily="34" charset="-120"/>
              </a:rPr>
              <a:t>O(n) time complexity for all operations with O(capacity) space usage proves practical viability for production systems.</a:t>
            </a:r>
            <a:endParaRPr lang="en-US" sz="1800" dirty="0"/>
          </a:p>
        </p:txBody>
      </p:sp>
      <p:sp>
        <p:nvSpPr>
          <p:cNvPr id="15" name="Rectangle 14">
            <a:extLst>
              <a:ext uri="{FF2B5EF4-FFF2-40B4-BE49-F238E27FC236}">
                <a16:creationId xmlns:a16="http://schemas.microsoft.com/office/drawing/2014/main" id="{3D1777E7-EF07-7478-D3C7-957F5BE8FEE7}"/>
              </a:ext>
            </a:extLst>
          </p:cNvPr>
          <p:cNvSpPr/>
          <p:nvPr/>
        </p:nvSpPr>
        <p:spPr>
          <a:xfrm>
            <a:off x="12549508" y="7723465"/>
            <a:ext cx="1964982" cy="381834"/>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5D83D92-B335-4AC9-F3DC-11613511300C}"/>
              </a:ext>
            </a:extLst>
          </p:cNvPr>
          <p:cNvPicPr>
            <a:picLocks noChangeAspect="1"/>
          </p:cNvPicPr>
          <p:nvPr/>
        </p:nvPicPr>
        <p:blipFill>
          <a:blip r:embed="rId3"/>
          <a:stretch>
            <a:fillRect/>
          </a:stretch>
        </p:blipFill>
        <p:spPr>
          <a:xfrm>
            <a:off x="2458716" y="1939697"/>
            <a:ext cx="9712964" cy="25690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728</TotalTime>
  <Words>362</Words>
  <Application>Microsoft Office PowerPoint</Application>
  <PresentationFormat>Custom</PresentationFormat>
  <Paragraphs>48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Prompt Medium</vt:lpstr>
      <vt:lpstr>Mukta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Prayagraj Mohanty</dc:creator>
  <cp:lastModifiedBy>Prayagraj Mohanty</cp:lastModifiedBy>
  <cp:revision>12</cp:revision>
  <dcterms:created xsi:type="dcterms:W3CDTF">2025-11-09T13:04:12Z</dcterms:created>
  <dcterms:modified xsi:type="dcterms:W3CDTF">2025-11-12T04:39:20Z</dcterms:modified>
</cp:coreProperties>
</file>